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764130a1e4402" /><Relationship Type="http://schemas.openxmlformats.org/officeDocument/2006/relationships/extended-properties" Target="/docProps/app.xml" Id="Rf61c3a58545b4e21" /><Relationship Type="http://schemas.openxmlformats.org/officeDocument/2006/relationships/officeDocument" Target="/ppt/presentation.xml" Id="R08626e32f92044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b17b7c34141e4"/>
  </p:sldMasterIdLst>
  <p:notesMasterIdLst>
    <p:notesMasterId xmlns:r="http://schemas.openxmlformats.org/officeDocument/2006/relationships" r:id="R654fde35946342d3"/>
  </p:notesMasterIdLst>
  <p:sldIdLst>
    <p:sldId xmlns:r="http://schemas.openxmlformats.org/officeDocument/2006/relationships" id="256" r:id="R4088f1e956cb4d4c"/>
    <p:sldId xmlns:r="http://schemas.openxmlformats.org/officeDocument/2006/relationships" id="257" r:id="R03cc2946b2474c99"/>
    <p:sldId xmlns:r="http://schemas.openxmlformats.org/officeDocument/2006/relationships" id="258" r:id="R7343c57bf341462a"/>
    <p:sldId xmlns:r="http://schemas.openxmlformats.org/officeDocument/2006/relationships" id="259" r:id="R61bbf2ed6ccf430d"/>
    <p:sldId xmlns:r="http://schemas.openxmlformats.org/officeDocument/2006/relationships" id="260" r:id="R70d3781f4e1b41b5"/>
    <p:sldId xmlns:r="http://schemas.openxmlformats.org/officeDocument/2006/relationships" id="261" r:id="R5b3e430d15564d6f"/>
    <p:sldId xmlns:r="http://schemas.openxmlformats.org/officeDocument/2006/relationships" id="262" r:id="Rf6a018b3172e4364"/>
    <p:sldId xmlns:r="http://schemas.openxmlformats.org/officeDocument/2006/relationships" id="263" r:id="R904427ff4b54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1375f595564f97" /><Relationship Type="http://schemas.openxmlformats.org/officeDocument/2006/relationships/slideMaster" Target="/ppt/slideMasters/slideMaster1.xml" Id="R782b17b7c34141e4" /><Relationship Type="http://schemas.openxmlformats.org/officeDocument/2006/relationships/notesMaster" Target="/ppt/notesMasters/notesMaster1.xml" Id="R654fde35946342d3" /><Relationship Type="http://schemas.openxmlformats.org/officeDocument/2006/relationships/presProps" Target="/ppt/presProps.xml" Id="Rb5039c70c58349c2" /><Relationship Type="http://schemas.openxmlformats.org/officeDocument/2006/relationships/tableStyles" Target="/ppt/tableStyles.xml" Id="Rb476154300d44019" /><Relationship Type="http://schemas.openxmlformats.org/officeDocument/2006/relationships/slide" Target="/ppt/slides/slide1.xml" Id="R4088f1e956cb4d4c" /><Relationship Type="http://schemas.openxmlformats.org/officeDocument/2006/relationships/slide" Target="/ppt/slides/slide2.xml" Id="R03cc2946b2474c99" /><Relationship Type="http://schemas.openxmlformats.org/officeDocument/2006/relationships/slide" Target="/ppt/slides/slide3.xml" Id="R7343c57bf341462a" /><Relationship Type="http://schemas.openxmlformats.org/officeDocument/2006/relationships/slide" Target="/ppt/slides/slide4.xml" Id="R61bbf2ed6ccf430d" /><Relationship Type="http://schemas.openxmlformats.org/officeDocument/2006/relationships/slide" Target="/ppt/slides/slide5.xml" Id="R70d3781f4e1b41b5" /><Relationship Type="http://schemas.openxmlformats.org/officeDocument/2006/relationships/slide" Target="/ppt/slides/slide6.xml" Id="R5b3e430d15564d6f" /><Relationship Type="http://schemas.openxmlformats.org/officeDocument/2006/relationships/slide" Target="/ppt/slides/slide7.xml" Id="Rf6a018b3172e4364" /><Relationship Type="http://schemas.openxmlformats.org/officeDocument/2006/relationships/slide" Target="/ppt/slides/slide8.xml" Id="R904427ff4b54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43f77a287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4b49f6c3547c7" /><Relationship Type="http://schemas.openxmlformats.org/officeDocument/2006/relationships/notesMaster" Target="/ppt/notesMasters/notesMaster1.xml" Id="R40fa8b40a3f7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7bbc34d0c4b23" /><Relationship Type="http://schemas.openxmlformats.org/officeDocument/2006/relationships/notesMaster" Target="/ppt/notesMasters/notesMaster1.xml" Id="Rc233cebb357543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1a984fa8e424d" /><Relationship Type="http://schemas.openxmlformats.org/officeDocument/2006/relationships/notesMaster" Target="/ppt/notesMasters/notesMaster1.xml" Id="R4dda442b2132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5e1c05d19f449c" /><Relationship Type="http://schemas.openxmlformats.org/officeDocument/2006/relationships/notesMaster" Target="/ppt/notesMasters/notesMaster1.xml" Id="R500a2ecfe0384d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ba927d8894f69" /><Relationship Type="http://schemas.openxmlformats.org/officeDocument/2006/relationships/notesMaster" Target="/ppt/notesMasters/notesMaster1.xml" Id="R75ad50dd14f044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97662c79bb4a5d" /><Relationship Type="http://schemas.openxmlformats.org/officeDocument/2006/relationships/notesMaster" Target="/ppt/notesMasters/notesMaster1.xml" Id="R304efc9fea17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24738016034c5f" /><Relationship Type="http://schemas.openxmlformats.org/officeDocument/2006/relationships/notesMaster" Target="/ppt/notesMasters/notesMaster1.xml" Id="R36ca8f4b5d444f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f623dc3e14d9d" /><Relationship Type="http://schemas.openxmlformats.org/officeDocument/2006/relationships/notesMaster" Target="/ppt/notesMasters/notesMaster1.xml" Id="Rc13042c9f0c646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met de verschuiving: niet meer alleen schermen tonen, maar architectuurprincipes uitvoerbaar maken.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 uit dat de implementatie is beoordeeld tegen de normatieve cockpit- en ecosysteemdocumenten.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 40 procent is een kwalitatieve inschatting op basis van code-inspectie en niet een formele auditmeting.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Verwijs naar docs/architectuur-backlog.md: iedere feature bevat scope, acceptatiecriteria en een Codex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Benadruk dat de PR's gestapeld zijn om review en mergevolgorde helder te houden.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Laat in de demo de testoutput en de codepaden WorkflowService en BesluitvormingService zien.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in drie stappen: backlog openen, code tonen, tests/buildresultaat tonen.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Sluit af met de vraag of de volgorde past voor de volgende sprintplanning.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GemeenteArnhem/Vernietigingscockpit Review architectuurdocumenten, geraadpleegd 2026-08-06.</a:t>
            </a:r>
          </a:p>
          <a:p xmlns:a="http://schemas.openxmlformats.org/drawingml/2006/main">
            <a:r>
              <a:t>- Lokale repo Vernietigingscockpit-code, branch dev4, geanalyseerd 2026-08-06.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62a8276be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188650446e4345" /><Relationship Type="http://schemas.openxmlformats.org/officeDocument/2006/relationships/slideLayout" Target="/ppt/slideLayouts/slideLayout1.xml" Id="Rd8e0314cfd2c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e0314cfd2c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e4ca579de4c11" /><Relationship Type="http://schemas.openxmlformats.org/officeDocument/2006/relationships/notesSlide" Target="/ppt/notesSlides/notesSlide1.xml" Id="R3c6115859868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03b3befa545de" /><Relationship Type="http://schemas.openxmlformats.org/officeDocument/2006/relationships/notesSlide" Target="/ppt/notesSlides/notesSlide2.xml" Id="R300c1904cb1a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77e80735d4a9b" /><Relationship Type="http://schemas.openxmlformats.org/officeDocument/2006/relationships/notesSlide" Target="/ppt/notesSlides/notesSlide3.xml" Id="R9930b1b99e4e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607f6f83646d6" /><Relationship Type="http://schemas.openxmlformats.org/officeDocument/2006/relationships/notesSlide" Target="/ppt/notesSlides/notesSlide4.xml" Id="R67cfbdf7656d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f3965f0674126" /><Relationship Type="http://schemas.openxmlformats.org/officeDocument/2006/relationships/notesSlide" Target="/ppt/notesSlides/notesSlide5.xml" Id="Rbd10b8519e38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c8ab89ae6419c" /><Relationship Type="http://schemas.openxmlformats.org/officeDocument/2006/relationships/notesSlide" Target="/ppt/notesSlides/notesSlide6.xml" Id="R3210d754755c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a9ade9f7a4525" /><Relationship Type="http://schemas.openxmlformats.org/officeDocument/2006/relationships/notesSlide" Target="/ppt/notesSlides/notesSlide7.xml" Id="R8ffff96045d84b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ab216a1c41a4" /><Relationship Type="http://schemas.openxmlformats.org/officeDocument/2006/relationships/notesSlide" Target="/ppt/notesSlides/notesSlide8.xml" Id="R74fe4f2b2cf6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7F661-6086-459D-B959-DA004FFB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Vernietigingscockpit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F394C-91AF-4FA4-A1CC-37EBB7E5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Architectuurbacklog en eerste borging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E135B-523E-4377-A072-0285AC50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470"/>
                </a:solidFill>
              </a:defRPr>
            </a:pPr>
            <a:r>
              <a:rPr sz="1800" b="0">
                <a:solidFill>
                  <a:srgbClr val="5E6470"/>
                </a:solidFill>
              </a:rPr>
              <a:t>Sprintreview | 6 augustus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521FE-5FDA-4AF0-BA38-1D479FB7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2952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BBB9B-DDA4-4B19-9C29-C216793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104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Focus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14A42-D365-4D42-BE42-281DEE7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Van prototype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naar aantoonbare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procesintegriteit.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35F10-7AF5-4FE4-B644-43528AA9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Workflow</a:t>
            </a:r>
          </a:p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Audit</a:t>
            </a:r>
          </a:p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Backlog</a:t>
            </a:r>
          </a:p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272490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30D0E-17A5-480B-8843-0E8C3A3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FFEE1-A942-406C-90E6-4B2916D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 architectuur vraagt om regie zonder uitvoering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6309C-3F62-40AE-9681-512C9046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8AC4D-7185-4133-BD8F-3C27E737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De cockpit beslist, verantwoordt en bewaakt. Stekkers selecteren en vernietigen. Die scheiding is de rode draad.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4842F-02A5-4F04-8CAD-92F28E9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A1253-85E4-43FD-B421-BE9DC43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Centrale regie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74A07-E79B-4589-9CC6-AF09FA7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</a:defRPr>
            </a:pPr>
            <a:r>
              <a:rPr sz="1500" b="0">
                <a:solidFill>
                  <a:srgbClr val="5E6470"/>
                </a:solidFill>
              </a:rPr>
              <a:t>Taken, workflow en dossier liggen in de cockpit.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09EBE-96CB-43F2-A547-4905770F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9C779-D0EB-4776-AC4A-D846F91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Decentrale uitvoering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CA1D-B820-4EFE-9FEC-39BEC230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</a:defRPr>
            </a:pPr>
            <a:r>
              <a:rPr sz="1500" b="0">
                <a:solidFill>
                  <a:srgbClr val="5E6470"/>
                </a:solidFill>
              </a:rPr>
              <a:t>Selectie en technische vernietiging blijven bij stekkers.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16121-9B9D-451B-9835-BF81CC36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D08ED-EC59-455C-8BBA-E133D73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Volledige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77BE2-6FFF-4F5D-810C-94AC1B4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70"/>
                </a:solidFill>
              </a:defRPr>
            </a:pPr>
            <a:r>
              <a:rPr sz="1500" b="0">
                <a:solidFill>
                  <a:srgbClr val="5E6470"/>
                </a:solidFill>
              </a:rPr>
              <a:t>Normatieve acties moeten expliciet en onveranderbaar zijn.</a:t>
            </a:r>
          </a:p>
        </p:txBody>
      </p:sp>
    </p:spTree>
    <p:extLst>
      <p:ext uri="{BB962C8B-B14F-4D97-AF65-F5344CB8AC3E}">
        <p14:creationId xmlns:p14="http://schemas.microsoft.com/office/powerpoint/2010/main" val="1179942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FF4E5-E450-4EEC-B435-D52E7DF0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B081-A022-43AC-93CB-9582C699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 basis past, de borging moet scherper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15F5E-B0CA-4750-B597-ACEB7A3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B95C9-D1F6-4C83-8DE6-671424AC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470"/>
                </a:solidFill>
              </a:defRPr>
            </a:pPr>
            <a:r>
              <a:rPr sz="1950" b="0">
                <a:solidFill>
                  <a:srgbClr val="5E6470"/>
                </a:solidFill>
              </a:rPr>
              <a:t>Fit/gap ten opzichte van de Review-architectuur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36A5-FB20-4396-B5AF-6E44A81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3837C-5CC3-4AF4-930E-A2D31CA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Past goed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05A3-56BB-4636-A914-9ADCC84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860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React, NestJS, PostgreSQL, modulaire monoliet, domeinmodules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214E6-0208-4184-9C90-5EA9A8A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3CB30-71F4-481B-BD3F-636765F5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BAED5-E900-4CCA-8C3E-B3C0265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Deels aanwezig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BB627-289F-42BC-81F2-973338E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Dossierdata, audit-tabel, OpenAPI-flow, worker-placeholders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0972D-B8AC-48E1-BD47-38D9550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2BEBA-DAFB-4EFC-8F4F-50B72FC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D011D-FBA8-4327-829C-1A1D77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Nog kritisch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968B3-6B25-4CCE-8E99-5DB2D6B3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3867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Workflowtransities, rolzuiverheid, insert-only audit, stekkercontracten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09C34-EE48-4E1D-8FA2-2AA6F003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478DD-B31D-434E-94E6-300689A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Inschatting: circa 40% architectuurconform voor deze sprint.</a:t>
            </a:r>
          </a:p>
        </p:txBody>
      </p:sp>
    </p:spTree>
    <p:extLst>
      <p:ext uri="{BB962C8B-B14F-4D97-AF65-F5344CB8AC3E}">
        <p14:creationId xmlns:p14="http://schemas.microsoft.com/office/powerpoint/2010/main" val="120370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8B8EA-0D4D-45A7-86AB-7CC00BC1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F7826-1928-47C1-A0BE-5FC6AA2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 backlog maakt principes uitvoerbaar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37925-AFB5-4873-B192-D65FE0A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C30F4-DC2E-4D48-A54A-97800BD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CC1C7-A031-4E6C-95FF-0503BB14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Workflowtransities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D9255-697B-4C13-B5D0-1EBCD627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Vaste volgorde afdwingen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2B681-1D99-4EF0-BE3A-6E28941C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3E41-5C2A-435C-A355-0145ACC0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Audit transactioneel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40503-AFB3-4D8E-B2EA-A07981A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Besluiten met bewijs vastleggen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9A9C5-7449-48FB-AF06-BE4F01F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054BC-C6F4-4478-9056-4CC536B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Rolzuiverheid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EB518-B343-481D-AD13-BD676A7F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Bevoegde rollen afdwingen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CF222-D54F-422A-B83B-9975D89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0E14B-32F1-42EF-ABA0-87856924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Stekkercontract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4ED8F-069D-4FAE-9C72-9B8AA5ED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Kandidaten als uitwisselobject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3AC22-9942-4907-A8AD-1983E3C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7CB24-4DCD-47DE-A389-858A4E0F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Queue-uitvoering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3B9E3-226E-45FD-9B96-35ADC7B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Lange processen herstartbaar maken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63C9E-8FF0-40A1-AFA8-A7937C3F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1B5CB-B27E-470C-917C-425FC91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Verklaring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8BCE7-318C-4246-9460-75BED8BD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470"/>
                </a:solidFill>
              </a:defRPr>
            </a:pPr>
            <a:r>
              <a:rPr sz="1425" b="0">
                <a:solidFill>
                  <a:srgbClr val="5E6470"/>
                </a:solidFill>
              </a:rPr>
              <a:t>Proces formeel afronden</a:t>
            </a:r>
          </a:p>
        </p:txBody>
      </p:sp>
    </p:spTree>
    <p:extLst>
      <p:ext uri="{BB962C8B-B14F-4D97-AF65-F5344CB8AC3E}">
        <p14:creationId xmlns:p14="http://schemas.microsoft.com/office/powerpoint/2010/main" val="1254653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F8B6B-F1F4-4EBF-B0D6-DA03EEC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B0E3F-2E29-41B7-B768-2FCCB94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 PR-stack houdt de verandering reviewbaar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2BE5B-4921-4834-8FC4-4DAE422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2C3B8-F173-4374-93BA-8F388F08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331FE-4CD4-4184-9ECB-474FE923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PR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8F2AC-7C0E-437E-9294-266C01F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Backlog en snijplan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51BF6-C50E-4B04-A57E-8F07FF36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0"/>
                </a:solidFill>
              </a:defRPr>
            </a:pPr>
            <a:r>
              <a:rPr sz="1350" b="0">
                <a:solidFill>
                  <a:srgbClr val="5E6470"/>
                </a:solidFill>
              </a:rPr>
              <a:t>Architectuurprincipes vertaald naar Codex-ready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D9483-8ECD-4D06-B969-AC203CF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76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E6470"/>
                </a:solidFill>
              </a:defRPr>
            </a:pPr>
            <a:r>
              <a:rPr sz="2250" b="1">
                <a:solidFill>
                  <a:srgbClr val="5E6470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E204A-116F-4666-8F97-6B7A7B5F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CDA74-7BAD-428E-BC23-0D92F12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PR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F225D-BAF5-4887-A088-898EA5CC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Workflow en auditbasis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1A7A1-1445-4B1A-9687-CF8D17C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0"/>
                </a:solidFill>
              </a:defRPr>
            </a:pPr>
            <a:r>
              <a:rPr sz="1350" b="0">
                <a:solidFill>
                  <a:srgbClr val="5E6470"/>
                </a:solidFill>
              </a:rPr>
              <a:t>Centrale transities, transactionele audit en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4CDF4-83A4-45AD-AE35-5EA5EAE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76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E6470"/>
                </a:solidFill>
              </a:defRPr>
            </a:pPr>
            <a:r>
              <a:rPr sz="2250" b="1">
                <a:solidFill>
                  <a:srgbClr val="5E6470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BB10A-F317-4B74-929B-C7ABE8CA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3F38A-C4FE-4CEB-8129-CB36A06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PR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F9185-3CA3-411D-A8C2-24517387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 en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25381-F9A1-46CE-9518-4179B3A6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470"/>
                </a:solidFill>
              </a:defRPr>
            </a:pPr>
            <a:r>
              <a:rPr sz="1350" b="0">
                <a:solidFill>
                  <a:srgbClr val="5E6470"/>
                </a:solidFill>
              </a:rPr>
              <a:t>Presentatie en demo-script voor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646532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9F2A7-5FF5-405E-BF91-5C147012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FD9B8-D0BE-4819-B398-92924F5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Deze sprint borgt de eerste normatieve stap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F0D29-9AC3-4FBB-A2B6-08235CD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0393-1265-4C94-B66C-11A99669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Geimplementeerd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B052A-4DF0-42BE-9876-3FE9EC6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WorkflowService.transition blokkeert ongeldige statuspaden en schrijft auditcontext. Accorderingen lopen nu via een database-transactie.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DE721-7343-44B5-A5E0-F5FE30EB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Bewijs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87238-6352-4E1C-BE79-56C290D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API tests: 3 geslaagd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3501F-D7AA-47E5-9E4E-ED915F7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API build: geslaagd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98B2E-7A43-4787-BE27-17C291FC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UI build: geslaagd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1586-29C9-4EBB-B208-1162125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Audit hardening migratie toegevoegd</a:t>
            </a:r>
          </a:p>
        </p:txBody>
      </p:sp>
    </p:spTree>
    <p:extLst>
      <p:ext uri="{BB962C8B-B14F-4D97-AF65-F5344CB8AC3E}">
        <p14:creationId xmlns:p14="http://schemas.microsoft.com/office/powerpoint/2010/main" val="1676731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35CBD-30A5-40AF-9C82-0B5F2F9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CE72C-6743-4356-8522-8264269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De demo toont het verschil tussen response en bewijs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D9EA-BFC6-472F-8A78-16DCFE91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97DB6-B045-404E-9DFD-7C555B74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Voorheen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8500-69A0-452E-ADDF-D122CEE6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A1AAF-DEDF-42EA-B1B8-637FF3D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Accordering kwam terug als response; status en bewijs waren niet geborgd.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2CA5B-6909-457D-BFFA-DBC30A0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4588A-C07E-40EF-872F-F8184A9C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8867A-CDDF-4090-87A3-30A81293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Accordering gebruikt workflowtransitie en auditwrites binnen dezelfde transactie.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56D1B-E2A7-4EDC-A534-264F329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Volgende stap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697C2-0118-4088-B522-8BEBAC3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EF516-A468-47ED-A5BD-5D1FC8E4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470"/>
                </a:solidFill>
              </a:defRPr>
            </a:pPr>
            <a:r>
              <a:rPr sz="1650" b="0">
                <a:solidFill>
                  <a:srgbClr val="5E6470"/>
                </a:solidFill>
              </a:rPr>
              <a:t>Role guards en Keycloak maken actor en bevoegdheid afdwingbaar.</a:t>
            </a:r>
          </a:p>
        </p:txBody>
      </p:sp>
    </p:spTree>
    <p:extLst>
      <p:ext uri="{BB962C8B-B14F-4D97-AF65-F5344CB8AC3E}">
        <p14:creationId xmlns:p14="http://schemas.microsoft.com/office/powerpoint/2010/main" val="872424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C5E7E-2489-4434-B35B-9473CB5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470"/>
                </a:solidFill>
              </a:defRPr>
            </a:pPr>
            <a:r>
              <a:rPr sz="1200" b="1">
                <a:solidFill>
                  <a:srgbClr val="5E6470"/>
                </a:solidFill>
              </a:rPr>
              <a:t>Sprintreview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C628-4421-4CD8-B818-6BFF0F4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Volgende sprint maakt de keten harder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2B135-765F-489C-BA25-31F0262F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804C7-04EB-4287-B8B5-DB5889A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Aanbevolen sprintfocus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A0115-3D73-4D40-819C-7758403A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1. Role guards voor proceseigenaar en archivaris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8B1A1-93D9-4E70-AEFC-5E294279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2. Stekkercontract op vernietigingskandidaatniveau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BE0CB-7FE7-4585-A32F-BF1D5540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3. BullMQ/Redis voor selectie, vernietiging en polling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3EA15-27F6-4FAD-965A-BD3E4DF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4. Verklaring en OpenZaak-adapter als afrondingspad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03B73-C6A6-4A8B-8CD9-60C4E8F3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D224E-CAA3-4836-B477-D5E8C65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Besluitvraag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7CA5D-E167-4ADC-9A91-53A643C3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470"/>
                </a:solidFill>
              </a:defRPr>
            </a:pPr>
            <a:r>
              <a:rPr sz="1575" b="0">
                <a:solidFill>
                  <a:srgbClr val="5E6470"/>
                </a:solidFill>
              </a:rPr>
              <a:t>Akkoord op deze volgorde, zodat procesintegriteit voorrang houdt boven extra schermfunctionaliteit.</a:t>
            </a:r>
          </a:p>
        </p:txBody>
      </p:sp>
    </p:spTree>
    <p:extLst>
      <p:ext uri="{BB962C8B-B14F-4D97-AF65-F5344CB8AC3E}">
        <p14:creationId xmlns:p14="http://schemas.microsoft.com/office/powerpoint/2010/main" val="160931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2026-08-06T08:57:25.0410000Z</dcterms:created>
  <dcterms:modified xsi:type="dcterms:W3CDTF">2026-08-06T08:57:25.0410000Z</dcterms:modified>
</coreProperties>
</file>